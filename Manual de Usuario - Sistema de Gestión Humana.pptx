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oppins" panose="020B0604020202020204" charset="0"/>
      <p:regular r:id="rId25"/>
      <p:bold r:id="rId26"/>
      <p:italic r:id="rId27"/>
      <p:boldItalic r:id="rId28"/>
    </p:embeddedFont>
    <p:embeddedFont>
      <p:font typeface="Poppins ExtraBold" panose="020B0604020202020204" charset="0"/>
      <p:bold r:id="rId29"/>
      <p:boldItalic r:id="rId30"/>
    </p:embeddedFont>
    <p:embeddedFont>
      <p:font typeface="Poppins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1782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33975" y="2360265"/>
            <a:ext cx="19240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15377" y="2884140"/>
            <a:ext cx="9961245" cy="7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Sistema de </a:t>
            </a:r>
            <a:r>
              <a:rPr lang="es-VE" sz="4200" b="0" i="0" u="none" strike="noStrike" cap="none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Gestión</a:t>
            </a:r>
            <a:r>
              <a:rPr lang="en-US" sz="4200" b="0" i="0" u="none" strike="noStrike" cap="none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Humana (SGH)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40335"/>
            <a:ext cx="7620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Guía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uso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para la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actualización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de la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Matriz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Organización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Escolar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(MOE) y el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Registro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Actualización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de Cargos (RAC).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6238875"/>
            <a:ext cx="110490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SGH | Ministerio del Poder Popular para la Educación</a:t>
            </a: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Versión 1808 (PowerPoint HTML Edition)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1133"/>
            <a:ext cx="533400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61133"/>
            <a:ext cx="533400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742283"/>
            <a:ext cx="47434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</a:t>
            </a:r>
            <a:r>
              <a:rPr lang="es-VE" sz="9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Usuario</a:t>
            </a:r>
            <a:r>
              <a:rPr lang="en-US" sz="9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SGH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1228725" y="2456408"/>
            <a:ext cx="46005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Entorno Google Workspace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2913608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 ser un ecosistema desarrollado sobre la plataforma institucional de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Google Apps Script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el navegador solicitará tu consentimiento expreso de acceso e inicio de sesión por única vez.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3942308"/>
            <a:ext cx="4743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pantallas de advertencia de seguridad variarán en su idioma según el lenguaje nativo configurado en tu explorador (Español o Inglés).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86575" y="2456408"/>
            <a:ext cx="466058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Advertencia Estándar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2913608"/>
            <a:ext cx="4743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¿Por qué aparece este aviso?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Google protege de forma predeterminada las cuentas ante cualquier desarrollo institucional que no proceda de su tienda global comercial.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50879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50879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029450" y="3885158"/>
            <a:ext cx="431053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¡IMPORTANTE!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10375" y="4104233"/>
            <a:ext cx="45148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debes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alarmarte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. Es una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advertencia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rutinaria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para apps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internas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empresariales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. El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totalmente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confiable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seguro</a:t>
            </a:r>
            <a:r>
              <a:rPr lang="en-US" sz="1050" b="0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10375" y="390420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Acceso y Permisos Google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11463"/>
            <a:ext cx="3555950" cy="472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211463"/>
            <a:ext cx="3555950" cy="472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211463"/>
            <a:ext cx="3555950" cy="472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Usuario SGH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 3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484367" y="5202779"/>
            <a:ext cx="173021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1: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Iniciar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Revisión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23900" y="5402906"/>
            <a:ext cx="325115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Presiona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botón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azul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"REVIEW PERMISSIONS"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iniciar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flujo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autenticación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cuenta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4980235" y="5119983"/>
            <a:ext cx="225028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2: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Menú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Advertencia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4479875" y="5386683"/>
            <a:ext cx="325115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ventana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indica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"Google no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verificó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app",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localiza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abajo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el enlace </a:t>
            </a:r>
            <a:r>
              <a:rPr lang="en-US" sz="975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975" b="1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Configuración</a:t>
            </a:r>
            <a:r>
              <a:rPr lang="en-US" sz="975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1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avanzada</a:t>
            </a:r>
            <a:r>
              <a:rPr lang="en-US" sz="975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8841700" y="5119983"/>
            <a:ext cx="202025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3: Ir al Enlace Seguro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226325" y="5386683"/>
            <a:ext cx="325115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Haz clic en el enlace inferior desplegado que indica </a:t>
            </a: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"Ir a SGH (no seguro)"</a:t>
            </a: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para avanzar al sistema.</a:t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14400" y="1464722"/>
            <a:ext cx="2831900" cy="358908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Pasos de Autorización (1 de 2)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84974A-E620-4790-AFA5-454EF724A9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864" y="1473002"/>
            <a:ext cx="2834886" cy="357078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1129541-4C1B-4C78-9489-F2A964BBA7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4932" y="1557110"/>
            <a:ext cx="2834886" cy="3426927"/>
          </a:xfrm>
          <a:prstGeom prst="rect">
            <a:avLst/>
          </a:prstGeom>
        </p:spPr>
      </p:pic>
      <p:pic>
        <p:nvPicPr>
          <p:cNvPr id="6" name="Gráfico 5" descr="Cursor">
            <a:extLst>
              <a:ext uri="{FF2B5EF4-FFF2-40B4-BE49-F238E27FC236}">
                <a16:creationId xmlns:a16="http://schemas.microsoft.com/office/drawing/2014/main" id="{32838749-7722-4A37-8299-C90EE42835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51996" y="4425679"/>
            <a:ext cx="694304" cy="694304"/>
          </a:xfrm>
          <a:prstGeom prst="rect">
            <a:avLst/>
          </a:prstGeom>
        </p:spPr>
      </p:pic>
      <p:pic>
        <p:nvPicPr>
          <p:cNvPr id="28" name="Gráfico 27" descr="Cursor">
            <a:extLst>
              <a:ext uri="{FF2B5EF4-FFF2-40B4-BE49-F238E27FC236}">
                <a16:creationId xmlns:a16="http://schemas.microsoft.com/office/drawing/2014/main" id="{E91F9A76-EDA3-4CC6-93B7-1D8F937C24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1964" y="3429000"/>
            <a:ext cx="694304" cy="694304"/>
          </a:xfrm>
          <a:prstGeom prst="rect">
            <a:avLst/>
          </a:prstGeom>
        </p:spPr>
      </p:pic>
      <p:pic>
        <p:nvPicPr>
          <p:cNvPr id="29" name="Gráfico 28" descr="Cursor">
            <a:extLst>
              <a:ext uri="{FF2B5EF4-FFF2-40B4-BE49-F238E27FC236}">
                <a16:creationId xmlns:a16="http://schemas.microsoft.com/office/drawing/2014/main" id="{35AD73D2-6D49-4519-B833-450AC7BFC5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90796" y="4066379"/>
            <a:ext cx="694304" cy="694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11463"/>
            <a:ext cx="3555950" cy="472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211463"/>
            <a:ext cx="3555950" cy="472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211463"/>
            <a:ext cx="3555950" cy="472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Usuario SGH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 3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231392" y="5202779"/>
            <a:ext cx="225294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4: </a:t>
            </a:r>
            <a:r>
              <a:rPr lang="en-US" sz="1200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Seleccionar</a:t>
            </a:r>
            <a:r>
              <a:rPr lang="en-US" sz="1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Cuenta</a:t>
            </a:r>
            <a:endParaRPr lang="en-US" sz="1200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23900" y="5402906"/>
            <a:ext cx="3251150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897"/>
              </a:lnSpc>
            </a:pPr>
            <a:r>
              <a:rPr lang="es-ES" sz="975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Escoge tu cuenta institucional de Google para autorizar la vinculación directa de tus accesos con el SGH.</a:t>
            </a:r>
            <a:endParaRPr lang="es-ES" sz="1000"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4980235" y="5119983"/>
            <a:ext cx="225028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5: </a:t>
            </a:r>
            <a:r>
              <a:rPr lang="en-US" sz="1200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Marcar</a:t>
            </a:r>
            <a:r>
              <a:rPr lang="en-US" sz="1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Permisos</a:t>
            </a:r>
            <a:endParaRPr lang="en-US" sz="1200"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4479875" y="5386683"/>
            <a:ext cx="3251150" cy="63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897"/>
              </a:lnSpc>
            </a:pPr>
            <a:r>
              <a:rPr lang="es-ES" sz="975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Asegúrate de marcar todas las casillas de verificación requeridas para otorgar accesos operacionales a la aplicación.</a:t>
            </a:r>
            <a:endParaRPr lang="es-ES" sz="1000"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8717393" y="5119983"/>
            <a:ext cx="22499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s-ES" sz="1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6: Conceder y Continuar</a:t>
            </a:r>
            <a:endParaRPr lang="es-ES" sz="1200"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8226325" y="5386683"/>
            <a:ext cx="3251150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897"/>
              </a:lnSpc>
            </a:pPr>
            <a:r>
              <a:rPr lang="es-ES" sz="975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Desplázate hasta la sección final de la página de términos y presiona el botón </a:t>
            </a:r>
            <a:r>
              <a:rPr lang="es-ES" sz="975" b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"Continuar" / "Permitir"</a:t>
            </a:r>
            <a:r>
              <a:rPr lang="es-ES" sz="975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ES" sz="1000" dirty="0"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14400" y="1597285"/>
            <a:ext cx="2831900" cy="327519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Pasos de Autorización (1 de 2)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84974A-E620-4790-AFA5-454EF724A9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864" y="1568350"/>
            <a:ext cx="2834886" cy="333131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1129541-4C1B-4C78-9489-F2A964BBA7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7470" y="1532726"/>
            <a:ext cx="2829810" cy="3426927"/>
          </a:xfrm>
          <a:prstGeom prst="rect">
            <a:avLst/>
          </a:prstGeom>
        </p:spPr>
      </p:pic>
      <p:pic>
        <p:nvPicPr>
          <p:cNvPr id="6" name="Gráfico 5" descr="Cursor">
            <a:extLst>
              <a:ext uri="{FF2B5EF4-FFF2-40B4-BE49-F238E27FC236}">
                <a16:creationId xmlns:a16="http://schemas.microsoft.com/office/drawing/2014/main" id="{32838749-7722-4A37-8299-C90EE42835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30048" y="4668497"/>
            <a:ext cx="694304" cy="694304"/>
          </a:xfrm>
          <a:prstGeom prst="rect">
            <a:avLst/>
          </a:prstGeom>
        </p:spPr>
      </p:pic>
      <p:pic>
        <p:nvPicPr>
          <p:cNvPr id="28" name="Gráfico 27" descr="Cursor">
            <a:extLst>
              <a:ext uri="{FF2B5EF4-FFF2-40B4-BE49-F238E27FC236}">
                <a16:creationId xmlns:a16="http://schemas.microsoft.com/office/drawing/2014/main" id="{E91F9A76-EDA3-4CC6-93B7-1D8F937C24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40317" y="4636885"/>
            <a:ext cx="694304" cy="694304"/>
          </a:xfrm>
          <a:prstGeom prst="rect">
            <a:avLst/>
          </a:prstGeom>
        </p:spPr>
      </p:pic>
      <p:pic>
        <p:nvPicPr>
          <p:cNvPr id="29" name="Gráfico 28" descr="Cursor">
            <a:extLst>
              <a:ext uri="{FF2B5EF4-FFF2-40B4-BE49-F238E27FC236}">
                <a16:creationId xmlns:a16="http://schemas.microsoft.com/office/drawing/2014/main" id="{35AD73D2-6D49-4519-B833-450AC7BFC5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97359" y="4176678"/>
            <a:ext cx="694304" cy="69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2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87601"/>
            <a:ext cx="5334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6286500" y="1789658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Usuario SGH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 5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1906339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vez que has completado la delegación de permisos de Google Workspace, el sistema redireccionará automáticamente a la interfaz web de inicio de sesión.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04875" y="2706439"/>
            <a:ext cx="5000625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Usuario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125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ódigo</a:t>
            </a:r>
            <a:r>
              <a:rPr lang="en-US" sz="1125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plantel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formato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alfanumérico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OD12345678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904875" y="3306514"/>
            <a:ext cx="500062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Contraseña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Ingresa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clave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asignada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accedes por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primera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vez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solicita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clave temporal a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coordinador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904875" y="3906589"/>
            <a:ext cx="50006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Presiona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botón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acceso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1019175" y="4530476"/>
            <a:ext cx="493061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Declaración Jurada de Veracidad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00100" y="4749551"/>
            <a:ext cx="4914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Inmediatamente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ingresar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visualizarás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una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advertencia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legal. Al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aceptar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declaras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bajo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juramento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legalidad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de los </a:t>
            </a:r>
            <a:r>
              <a:rPr lang="en-US" sz="1050" b="1" i="0" u="none" strike="noStrike" cap="none" dirty="0" err="1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1050" b="1" i="0" u="none" strike="noStrike" cap="none" dirty="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 a registrar.</a:t>
            </a:r>
            <a:endParaRPr b="1" dirty="0"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769227" y="1146048"/>
            <a:ext cx="4368546" cy="4825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0100" y="454952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2730251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33032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393040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Inicio de Sesión y Acceso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Usuario SGH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 6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333500" y="2299245"/>
            <a:ext cx="9525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 políticas estrictas de ciberseguridad, es obligatorio sustituir tu clave temporal institucional desde la primera sesión de uso del portal.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666875" y="3099345"/>
            <a:ext cx="91916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Ubicación de Sección: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Localiza la pestaña de "Actualización de Clave" directamente en el panel de usuario o accede cuando el sistema solicite su renovación forzosa.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666875" y="3699420"/>
            <a:ext cx="919162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Clave Previa y Nueva: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Deberás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rellenar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contraseña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actual del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y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luego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nueva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clave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secreta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adaptada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necesidades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recordatorio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1666875" y="4299495"/>
            <a:ext cx="91916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Confirmación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e </a:t>
            </a:r>
            <a:r>
              <a:rPr lang="en-US" sz="1125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Implementación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ambas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casillas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nuevo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coincidan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forma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correcta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Presiona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botón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r>
              <a:rPr lang="en-US" sz="1125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Guardar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125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Cambios</a:t>
            </a:r>
            <a:r>
              <a:rPr lang="en-US" sz="112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actualizar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perfil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institucional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12315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7232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32330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Seguridad y Cambio de Clave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275433"/>
            <a:ext cx="1090612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Usuario SGH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 7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457325" y="2627635"/>
            <a:ext cx="100869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Matrículas</a:t>
            </a:r>
            <a:r>
              <a:rPr lang="en-US" sz="165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650" b="1" i="0" u="none" strike="noStrike" cap="none" dirty="0" err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Secciones</a:t>
            </a:r>
            <a:endParaRPr dirty="0"/>
          </a:p>
        </p:txBody>
      </p:sp>
      <p:sp>
        <p:nvSpPr>
          <p:cNvPr id="216" name="Google Shape;216;p19"/>
          <p:cNvSpPr txBox="1"/>
          <p:nvPr/>
        </p:nvSpPr>
        <p:spPr>
          <a:xfrm>
            <a:off x="966788" y="3011879"/>
            <a:ext cx="4743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Reporta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volumen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demográfico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ingresando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conteo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estudiantes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divididos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por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sexo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femenino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masculino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correspondientes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etapa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966788" y="3976450"/>
            <a:ext cx="4743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Totales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Automáticos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cálculos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generales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procesan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por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Finaliza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guardando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progresos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 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botón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disquete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flotante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margen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inferior.</a:t>
            </a:r>
            <a:endParaRPr dirty="0"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788" y="267200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Formulario de Plantel (MOE)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14;p19">
            <a:extLst>
              <a:ext uri="{FF2B5EF4-FFF2-40B4-BE49-F238E27FC236}">
                <a16:creationId xmlns:a16="http://schemas.microsoft.com/office/drawing/2014/main" id="{C99108C1-B0CF-4D63-B630-E2BA41A8D31D}"/>
              </a:ext>
            </a:extLst>
          </p:cNvPr>
          <p:cNvSpPr txBox="1"/>
          <p:nvPr/>
        </p:nvSpPr>
        <p:spPr>
          <a:xfrm>
            <a:off x="6643687" y="3011879"/>
            <a:ext cx="4743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Planes de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Estudio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posee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Media General y/o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Técnica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define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detalladamente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secciones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activas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por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año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escolar (1° a 5º y/o 6°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año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Usuario SGH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 8</a:t>
            </a:r>
            <a:endParaRPr/>
          </a:p>
        </p:txBody>
      </p:sp>
      <p:pic>
        <p:nvPicPr>
          <p:cNvPr id="233" name="Google Shape;23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78978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13225" y="278978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59675" y="2789783"/>
            <a:ext cx="476250" cy="47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FF0DF633-5ED6-4DB4-82C1-C827902AAFDC}"/>
              </a:ext>
            </a:extLst>
          </p:cNvPr>
          <p:cNvGrpSpPr/>
          <p:nvPr/>
        </p:nvGrpSpPr>
        <p:grpSpPr>
          <a:xfrm>
            <a:off x="8297881" y="2391638"/>
            <a:ext cx="3555950" cy="2209800"/>
            <a:chOff x="571500" y="2494508"/>
            <a:chExt cx="3555950" cy="2209800"/>
          </a:xfrm>
        </p:grpSpPr>
        <p:pic>
          <p:nvPicPr>
            <p:cNvPr id="227" name="Google Shape;227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1500" y="2494508"/>
              <a:ext cx="3555950" cy="22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20"/>
            <p:cNvSpPr txBox="1"/>
            <p:nvPr/>
          </p:nvSpPr>
          <p:spPr>
            <a:xfrm>
              <a:off x="866775" y="3456533"/>
              <a:ext cx="3113670" cy="257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Búsqueda y Filtros</a:t>
              </a:r>
              <a:endParaRPr/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866775" y="3808958"/>
              <a:ext cx="29654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Encuentra a los empleados con facilidad empleando la barra de filtrado por nombre, apellido o cédula de identidad.</a:t>
              </a:r>
              <a:endParaRPr/>
            </a:p>
          </p:txBody>
        </p:sp>
        <p:pic>
          <p:nvPicPr>
            <p:cNvPr id="242" name="Google Shape;242;p20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00125" y="2923133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43F2EB57-BC9D-42ED-B899-17F58E723F62}"/>
              </a:ext>
            </a:extLst>
          </p:cNvPr>
          <p:cNvGrpSpPr/>
          <p:nvPr/>
        </p:nvGrpSpPr>
        <p:grpSpPr>
          <a:xfrm>
            <a:off x="600075" y="2375520"/>
            <a:ext cx="3555950" cy="2209800"/>
            <a:chOff x="4317950" y="2494508"/>
            <a:chExt cx="3555950" cy="2209800"/>
          </a:xfrm>
        </p:grpSpPr>
        <p:pic>
          <p:nvPicPr>
            <p:cNvPr id="228" name="Google Shape;228;p20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317950" y="2494508"/>
              <a:ext cx="3555950" cy="22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0"/>
            <p:cNvSpPr txBox="1"/>
            <p:nvPr/>
          </p:nvSpPr>
          <p:spPr>
            <a:xfrm>
              <a:off x="4613225" y="3456533"/>
              <a:ext cx="3113670" cy="257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Nuevo Empleado</a:t>
              </a: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4613225" y="3808958"/>
              <a:ext cx="29654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Registra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ingresos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presionando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"+ Nuevo </a:t>
              </a: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Empleado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". </a:t>
              </a: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Digita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la cédula y el </a:t>
              </a: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sistema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cargará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los </a:t>
              </a:r>
              <a:r>
                <a:rPr lang="en-US" sz="1050" b="0" i="0" u="none" strike="noStrike" cap="none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datos</a:t>
              </a:r>
              <a:r>
                <a:rPr lang="en-US" sz="10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de la base central.</a:t>
              </a:r>
              <a:endParaRPr dirty="0"/>
            </a:p>
          </p:txBody>
        </p:sp>
        <p:pic>
          <p:nvPicPr>
            <p:cNvPr id="243" name="Google Shape;243;p20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18000" y="2923133"/>
              <a:ext cx="266700" cy="209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294AA9E2-BD53-43F5-9D65-4001B9D5A953}"/>
              </a:ext>
            </a:extLst>
          </p:cNvPr>
          <p:cNvGrpSpPr/>
          <p:nvPr/>
        </p:nvGrpSpPr>
        <p:grpSpPr>
          <a:xfrm>
            <a:off x="4448978" y="2390775"/>
            <a:ext cx="3555950" cy="2209800"/>
            <a:chOff x="8064400" y="2494508"/>
            <a:chExt cx="3555950" cy="2209800"/>
          </a:xfrm>
        </p:grpSpPr>
        <p:pic>
          <p:nvPicPr>
            <p:cNvPr id="229" name="Google Shape;229;p20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064400" y="2494508"/>
              <a:ext cx="3555950" cy="22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0"/>
            <p:cNvSpPr txBox="1"/>
            <p:nvPr/>
          </p:nvSpPr>
          <p:spPr>
            <a:xfrm>
              <a:off x="8359675" y="3456533"/>
              <a:ext cx="3113670" cy="257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Modificar Fichas</a:t>
              </a:r>
              <a:endParaRPr/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8359675" y="3808958"/>
              <a:ext cx="29654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Selecciona a un trabajador para editar sus horas académicas, estatus laboral actual, números telefónicos y cargos.</a:t>
              </a:r>
              <a:endParaRPr/>
            </a:p>
          </p:txBody>
        </p:sp>
        <p:pic>
          <p:nvPicPr>
            <p:cNvPr id="244" name="Google Shape;244;p20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464450" y="2923133"/>
              <a:ext cx="266700" cy="209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20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5. Gestión de Personal (RAC)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4995"/>
            <a:ext cx="441960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72100" y="3675608"/>
            <a:ext cx="6629400" cy="1236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08647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571500" y="6238875"/>
            <a:ext cx="1295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de Usuario SGH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1153775" y="623887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Página 9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962025" y="2975520"/>
            <a:ext cx="36385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2563E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100%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962025" y="4023270"/>
            <a:ext cx="3638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HISTORIAL CONSERVADO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372100" y="2287041"/>
            <a:ext cx="6819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Norma de Retiro del Talento Humano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372100" y="2801391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Cuando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requieras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retirar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trabajador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plantel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eliminas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general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Entra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ficha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técnica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modifica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estatus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inactivo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acorde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suceso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administrativo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61" name="Google Shape;261;p21"/>
          <p:cNvSpPr txBox="1"/>
          <p:nvPr/>
        </p:nvSpPr>
        <p:spPr>
          <a:xfrm>
            <a:off x="5819775" y="3818483"/>
            <a:ext cx="629078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Estados de Desincorporación: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5600700" y="4037558"/>
            <a:ext cx="62103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Aplica los estatus de: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Traslado, Renuncia, o Jubilado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Reserva el uso del botón de eliminación exclusivamente para corregir fallos ortográficos o errores graves de cédula.</a:t>
            </a:r>
            <a:endParaRPr/>
          </a:p>
        </p:txBody>
      </p:sp>
      <p:pic>
        <p:nvPicPr>
          <p:cNvPr id="263" name="Google Shape;26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0700" y="383753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714375" y="476250"/>
            <a:ext cx="1145143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Historial y Desincorporación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571500" y="476250"/>
            <a:ext cx="57150" cy="3981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2" descr="image.png"/>
          <p:cNvPicPr preferRelativeResize="0"/>
          <p:nvPr/>
        </p:nvPicPr>
        <p:blipFill rotWithShape="1">
          <a:blip r:embed="rId3">
            <a:alphaModFix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4912" y="2056507"/>
            <a:ext cx="21621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3110626" y="2580382"/>
            <a:ext cx="5970746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¿Finalizaste tu Jornada?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2286000" y="3248917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Por motivos de protección del SGH y confidencialidad de la MOE / RAC, recuerda siempre cerrar sesión correctamente.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3238500" y="4058542"/>
            <a:ext cx="5715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Haz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clic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sobre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 el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botón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                  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esquina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superior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derecha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presiona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Cerrar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Sesión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 ¡Tu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y la de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institución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prioridad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571500" y="6238875"/>
            <a:ext cx="110490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SGH | Soporte Técnico Institucional</a:t>
            </a: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Manual de Usuario - Fin de la Presentación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443905-6880-4172-B15C-FBD5578BE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813" y="4091686"/>
            <a:ext cx="564675" cy="2653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913</Words>
  <Application>Microsoft Office PowerPoint</Application>
  <PresentationFormat>Panorámica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 SemiBold</vt:lpstr>
      <vt:lpstr>Inter</vt:lpstr>
      <vt:lpstr>Poppins SemiBold</vt:lpstr>
      <vt:lpstr>Poppins</vt:lpstr>
      <vt:lpstr>Poppins ExtraBold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Alfonso Perez Serrano</dc:creator>
  <cp:lastModifiedBy>Luis Alfonso Perez Serrano</cp:lastModifiedBy>
  <cp:revision>5</cp:revision>
  <dcterms:modified xsi:type="dcterms:W3CDTF">2026-07-14T21:40:59Z</dcterms:modified>
</cp:coreProperties>
</file>